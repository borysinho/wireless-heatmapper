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4160520"/>
            <a:ext cx="12191695" cy="0"/>
          </a:xfrm>
          <a:prstGeom prst="line">
            <a:avLst/>
          </a:prstGeom>
          <a:ln w="25400">
            <a:solidFill>
              <a:srgbClr val="2D3D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4306824"/>
            <a:ext cx="12191695" cy="0"/>
          </a:xfrm>
          <a:prstGeom prst="line">
            <a:avLst/>
          </a:prstGeom>
          <a:ln w="25400">
            <a:solidFill>
              <a:srgbClr val="2D3D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4453128"/>
            <a:ext cx="12191695" cy="0"/>
          </a:xfrm>
          <a:prstGeom prst="line">
            <a:avLst/>
          </a:prstGeom>
          <a:ln w="25400">
            <a:solidFill>
              <a:srgbClr val="2D3D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4599431"/>
            <a:ext cx="12191695" cy="0"/>
          </a:xfrm>
          <a:prstGeom prst="line">
            <a:avLst/>
          </a:prstGeom>
          <a:ln w="25400">
            <a:solidFill>
              <a:srgbClr val="2D3D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4745736"/>
            <a:ext cx="12191695" cy="0"/>
          </a:xfrm>
          <a:prstGeom prst="line">
            <a:avLst/>
          </a:prstGeom>
          <a:ln w="25400">
            <a:solidFill>
              <a:srgbClr val="2D3D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4892040"/>
            <a:ext cx="12191695" cy="0"/>
          </a:xfrm>
          <a:prstGeom prst="line">
            <a:avLst/>
          </a:prstGeom>
          <a:ln w="25400">
            <a:solidFill>
              <a:srgbClr val="2D3D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5038344"/>
            <a:ext cx="12191695" cy="0"/>
          </a:xfrm>
          <a:prstGeom prst="line">
            <a:avLst/>
          </a:prstGeom>
          <a:ln w="25400">
            <a:solidFill>
              <a:srgbClr val="2D3D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5184648"/>
            <a:ext cx="12191695" cy="0"/>
          </a:xfrm>
          <a:prstGeom prst="line">
            <a:avLst/>
          </a:prstGeom>
          <a:ln w="25400">
            <a:solidFill>
              <a:srgbClr val="2D3D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330952"/>
            <a:ext cx="12191695" cy="0"/>
          </a:xfrm>
          <a:prstGeom prst="line">
            <a:avLst/>
          </a:prstGeom>
          <a:ln w="25400">
            <a:solidFill>
              <a:srgbClr val="2D3D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477256"/>
            <a:ext cx="12191695" cy="0"/>
          </a:xfrm>
          <a:prstGeom prst="line">
            <a:avLst/>
          </a:prstGeom>
          <a:ln w="25400">
            <a:solidFill>
              <a:srgbClr val="2D3D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5623560"/>
            <a:ext cx="12191695" cy="0"/>
          </a:xfrm>
          <a:prstGeom prst="line">
            <a:avLst/>
          </a:prstGeom>
          <a:ln w="25400">
            <a:solidFill>
              <a:srgbClr val="2D3D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5769864"/>
            <a:ext cx="12191695" cy="0"/>
          </a:xfrm>
          <a:prstGeom prst="line">
            <a:avLst/>
          </a:prstGeom>
          <a:ln w="25400">
            <a:solidFill>
              <a:srgbClr val="2D3D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5916168"/>
            <a:ext cx="12191695" cy="0"/>
          </a:xfrm>
          <a:prstGeom prst="line">
            <a:avLst/>
          </a:prstGeom>
          <a:ln w="25400">
            <a:solidFill>
              <a:srgbClr val="2D3D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6062472"/>
            <a:ext cx="12191695" cy="0"/>
          </a:xfrm>
          <a:prstGeom prst="line">
            <a:avLst/>
          </a:prstGeom>
          <a:ln w="25400">
            <a:solidFill>
              <a:srgbClr val="2D3D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6208776"/>
            <a:ext cx="12191695" cy="0"/>
          </a:xfrm>
          <a:prstGeom prst="line">
            <a:avLst/>
          </a:prstGeom>
          <a:ln w="25400">
            <a:solidFill>
              <a:srgbClr val="2D3D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6355079"/>
            <a:ext cx="12191695" cy="0"/>
          </a:xfrm>
          <a:prstGeom prst="line">
            <a:avLst/>
          </a:prstGeom>
          <a:ln w="25400">
            <a:solidFill>
              <a:srgbClr val="2D3D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58368"/>
            <a:ext cx="1170432" cy="11704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4944" y="1874519"/>
            <a:ext cx="7863840" cy="6583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 Display"/>
              </a:rPr>
              <a:t>Wireless HeatMapper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2633472"/>
            <a:ext cx="640080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0">
                <a:solidFill>
                  <a:srgbClr val="D8E8F3"/>
                </a:solidFill>
                <a:latin typeface="Aptos"/>
              </a:rPr>
              <a:t>Sistema inteligente para análisis y optimización de cobertura WiFi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434840"/>
            <a:ext cx="45720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68C4E2"/>
                </a:solidFill>
                <a:latin typeface="Aptos"/>
              </a:rPr>
              <a:t>Ingeniería de Software II · Grupo 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828032"/>
            <a:ext cx="31089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D8E8F3"/>
                </a:solidFill>
                <a:latin typeface="Aptos"/>
              </a:rPr>
              <a:t>Cliente: Bulldog Tech.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184648"/>
            <a:ext cx="64008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0">
                <a:solidFill>
                  <a:srgbClr val="D8E8F3"/>
                </a:solidFill>
                <a:latin typeface="Aptos"/>
              </a:rPr>
              <a:t>Jhasmany Jhunnior Fernandez Ortega · Herland Borys Quiroga Flores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4434840"/>
            <a:ext cx="420624" cy="91440"/>
          </a:xfrm>
          <a:prstGeom prst="rect">
            <a:avLst/>
          </a:prstGeom>
          <a:solidFill>
            <a:srgbClr val="C24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32519" y="4434840"/>
            <a:ext cx="420624" cy="9144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0" y="4434840"/>
            <a:ext cx="420624" cy="91440"/>
          </a:xfrm>
          <a:prstGeom prst="rect">
            <a:avLst/>
          </a:prstGeom>
          <a:solidFill>
            <a:srgbClr val="E0C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555480" y="4434840"/>
            <a:ext cx="420624" cy="91440"/>
          </a:xfrm>
          <a:prstGeom prst="rect">
            <a:avLst/>
          </a:prstGeom>
          <a:solidFill>
            <a:srgbClr val="188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966960" y="4434840"/>
            <a:ext cx="420624" cy="914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2600" y="6236208"/>
            <a:ext cx="20116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50" b="0">
                <a:solidFill>
                  <a:srgbClr val="B4C6D4"/>
                </a:solidFill>
                <a:latin typeface="Aptos"/>
              </a:rPr>
              <a:t>FICCT-UAGRM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7955279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7202A"/>
                </a:solidFill>
                <a:latin typeface="Aptos Display"/>
              </a:rPr>
              <a:t>Problema y oportunidad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740664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D6B7A"/>
                </a:solidFill>
                <a:latin typeface="Aptos"/>
              </a:rPr>
              <a:t>El diseño WiFi interior no se valida bien solo con experiencia o estimaciones.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96012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6692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5D6B7A"/>
                </a:solidFill>
                <a:latin typeface="Aptos"/>
              </a:rPr>
              <a:t>Wireless HeatMapper · Grupo 24 · FICCT-UAGRM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6858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5D6B7A"/>
                </a:solidFill>
                <a:latin typeface="Aptos"/>
              </a:rPr>
              <a:t>02/12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520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00200"/>
            <a:ext cx="73152" cy="11430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728216"/>
            <a:ext cx="32004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202A"/>
                </a:solidFill>
                <a:latin typeface="Aptos"/>
              </a:rPr>
              <a:t>Entorno RF variable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75688"/>
            <a:ext cx="3200400" cy="5760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D6B7A"/>
                </a:solidFill>
                <a:latin typeface="Aptos"/>
              </a:rPr>
              <a:t>La señal cambia por distancia, obstáculos, interferencia y uso de canales.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907792"/>
            <a:ext cx="3520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907792"/>
            <a:ext cx="73152" cy="114300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3035808"/>
            <a:ext cx="32004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202A"/>
                </a:solidFill>
                <a:latin typeface="Aptos"/>
              </a:rPr>
              <a:t>Zonas débiles tardías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383280"/>
            <a:ext cx="3200400" cy="5760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D6B7A"/>
                </a:solidFill>
                <a:latin typeface="Aptos"/>
              </a:rPr>
              <a:t>Los problemas aparecen después de instalar o cuando el cliente ya reclama.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215384"/>
            <a:ext cx="3520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215384"/>
            <a:ext cx="73152" cy="1143000"/>
          </a:xfrm>
          <a:prstGeom prst="rect">
            <a:avLst/>
          </a:prstGeom>
          <a:solidFill>
            <a:srgbClr val="188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4343400"/>
            <a:ext cx="32004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202A"/>
                </a:solidFill>
                <a:latin typeface="Aptos"/>
              </a:rPr>
              <a:t>Decisión del cliente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690872"/>
            <a:ext cx="3200400" cy="5760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D6B7A"/>
                </a:solidFill>
                <a:latin typeface="Aptos"/>
              </a:rPr>
              <a:t>Se necesita evidencia visual y técnica para justificar una mejora.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28032" y="1536192"/>
            <a:ext cx="278892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74920" y="1792224"/>
            <a:ext cx="1371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7202A"/>
                </a:solidFill>
                <a:latin typeface="Aptos"/>
              </a:rPr>
              <a:t>Antes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2359152"/>
            <a:ext cx="2057400" cy="1371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5D6B7A"/>
                </a:solidFill>
                <a:latin typeface="Aptos"/>
              </a:rPr>
              <a:t>Estimación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D6B7A"/>
                </a:solidFill>
                <a:latin typeface="Aptos"/>
              </a:rPr>
              <a:t>Experiencia técnica</a:t>
            </a: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5D6B7A"/>
                </a:solidFill>
                <a:latin typeface="Aptos"/>
              </a:rPr>
              <a:t>Resultados difíciles de explicar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166360" y="3611880"/>
            <a:ext cx="1920240" cy="0"/>
          </a:xfrm>
          <a:prstGeom prst="line">
            <a:avLst/>
          </a:prstGeom>
          <a:ln w="25400">
            <a:solidFill>
              <a:srgbClr val="BEC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166360" y="4069080"/>
            <a:ext cx="1920240" cy="0"/>
          </a:xfrm>
          <a:prstGeom prst="line">
            <a:avLst/>
          </a:prstGeom>
          <a:ln w="25400">
            <a:solidFill>
              <a:srgbClr val="BEC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166360" y="4526280"/>
            <a:ext cx="1920240" cy="0"/>
          </a:xfrm>
          <a:prstGeom prst="line">
            <a:avLst/>
          </a:prstGeom>
          <a:ln w="25400">
            <a:solidFill>
              <a:srgbClr val="BEC6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028431" y="1536192"/>
            <a:ext cx="315468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1792224"/>
            <a:ext cx="26060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17202A"/>
                </a:solidFill>
                <a:latin typeface="Aptos"/>
              </a:rPr>
              <a:t>Con Wireless HeatMapper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48472" y="2423160"/>
            <a:ext cx="2011680" cy="347472"/>
          </a:xfrm>
          <a:prstGeom prst="round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Medición RSSI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48472" y="3044952"/>
            <a:ext cx="2011680" cy="347472"/>
          </a:xfrm>
          <a:prstGeom prst="roundRect">
            <a:avLst/>
          </a:prstGeom>
          <a:solidFill>
            <a:srgbClr val="188F67"/>
          </a:solidFill>
          <a:ln>
            <a:solidFill>
              <a:srgbClr val="188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Heatmap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48472" y="3666744"/>
            <a:ext cx="2011680" cy="347472"/>
          </a:xfrm>
          <a:prstGeom prst="roundRect">
            <a:avLst/>
          </a:prstGeom>
          <a:solidFill>
            <a:srgbClr val="B7791F"/>
          </a:solidFill>
          <a:ln>
            <a:solidFill>
              <a:srgbClr val="B77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Propuesta IA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48472" y="4288536"/>
            <a:ext cx="2011680" cy="347472"/>
          </a:xfrm>
          <a:prstGeom prst="roundRect">
            <a:avLst/>
          </a:prstGeom>
          <a:solidFill>
            <a:srgbClr val="1B2A3A"/>
          </a:solidFill>
          <a:ln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Portal cliente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7955279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7202A"/>
                </a:solidFill>
                <a:latin typeface="Aptos Display"/>
              </a:rPr>
              <a:t>Solución propuesta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740664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D6B7A"/>
                </a:solidFill>
                <a:latin typeface="Aptos"/>
              </a:rPr>
              <a:t>Sistema integrado 100 % en línea para capturar, analizar, optimizar y publicar resultados WiFi.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96012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6692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5D6B7A"/>
                </a:solidFill>
                <a:latin typeface="Aptos"/>
              </a:rPr>
              <a:t>Wireless HeatMapper · Grupo 24 · FICCT-UAGRM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6858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5D6B7A"/>
                </a:solidFill>
                <a:latin typeface="Aptos"/>
              </a:rPr>
              <a:t>03/12</a:t>
            </a:r>
          </a:p>
        </p:txBody>
      </p:sp>
      <p:pic>
        <p:nvPicPr>
          <p:cNvPr id="7" name="Picture 6" descr="vista-gener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336853"/>
            <a:ext cx="5440680" cy="344363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3232" y="1417320"/>
            <a:ext cx="384048" cy="384048"/>
          </a:xfrm>
          <a:prstGeom prst="round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453896"/>
            <a:ext cx="4114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50" b="0">
                <a:solidFill>
                  <a:srgbClr val="17202A"/>
                </a:solidFill>
                <a:latin typeface="Aptos"/>
              </a:rPr>
              <a:t>Captura RSSI desde Android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75688"/>
            <a:ext cx="384048" cy="384048"/>
          </a:xfrm>
          <a:prstGeom prst="round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112264"/>
            <a:ext cx="4114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50" b="0">
                <a:solidFill>
                  <a:srgbClr val="17202A"/>
                </a:solidFill>
                <a:latin typeface="Aptos"/>
              </a:rPr>
              <a:t>Persistencia central en 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734056"/>
            <a:ext cx="384048" cy="384048"/>
          </a:xfrm>
          <a:prstGeom prst="round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2770632"/>
            <a:ext cx="4114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50" b="0">
                <a:solidFill>
                  <a:srgbClr val="17202A"/>
                </a:solidFill>
                <a:latin typeface="Aptos"/>
              </a:rPr>
              <a:t>Heatmaps sobre planos calibrados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3392424"/>
            <a:ext cx="384048" cy="384048"/>
          </a:xfrm>
          <a:prstGeom prst="round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3429000"/>
            <a:ext cx="4114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50" b="0">
                <a:solidFill>
                  <a:srgbClr val="17202A"/>
                </a:solidFill>
                <a:latin typeface="Aptos"/>
              </a:rPr>
              <a:t>IA propone conjuntos AP derivados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050791"/>
            <a:ext cx="384048" cy="384048"/>
          </a:xfrm>
          <a:prstGeom prst="round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4087367"/>
            <a:ext cx="41148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50" b="0">
                <a:solidFill>
                  <a:srgbClr val="17202A"/>
                </a:solidFill>
                <a:latin typeface="Aptos"/>
              </a:rPr>
              <a:t>Portal cliente por enlace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66360"/>
            <a:ext cx="493776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5D6B7A"/>
                </a:solidFill>
                <a:latin typeface="Aptos"/>
              </a:rPr>
              <a:t>La app móvil es cliente delgado: captura y consulta; el estado de dominio vive en backend.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7955279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7202A"/>
                </a:solidFill>
                <a:latin typeface="Aptos Display"/>
              </a:rPr>
              <a:t>Arquitectura online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740664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D6B7A"/>
                </a:solidFill>
                <a:latin typeface="Aptos"/>
              </a:rPr>
              <a:t>Una sola fuente de verdad: el backend central y PostgreSQL.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96012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6692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5D6B7A"/>
                </a:solidFill>
                <a:latin typeface="Aptos"/>
              </a:rPr>
              <a:t>Wireless HeatMapper · Grupo 24 · FICCT-UAGRM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6858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5D6B7A"/>
                </a:solidFill>
                <a:latin typeface="Aptos"/>
              </a:rPr>
              <a:t>04/12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2194560" cy="877824"/>
          </a:xfrm>
          <a:prstGeom prst="roundRect">
            <a:avLst/>
          </a:prstGeom>
          <a:solidFill>
            <a:srgbClr val="EBF5FB"/>
          </a:solidFill>
          <a:ln w="2032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93976"/>
            <a:ext cx="1920240" cy="53035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320" b="1">
                <a:solidFill>
                  <a:srgbClr val="17202A"/>
                </a:solidFill>
                <a:latin typeface="Aptos"/>
              </a:rPr>
              <a:t>App móvil
Flutter / Dart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2194560" cy="877824"/>
          </a:xfrm>
          <a:prstGeom prst="roundRect">
            <a:avLst/>
          </a:prstGeom>
          <a:solidFill>
            <a:srgbClr val="EBF5FB"/>
          </a:solidFill>
          <a:ln w="2032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22776"/>
            <a:ext cx="1920240" cy="53035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320" b="1">
                <a:solidFill>
                  <a:srgbClr val="17202A"/>
                </a:solidFill>
                <a:latin typeface="Aptos"/>
              </a:rPr>
              <a:t>Web admin + portal
React + TypeScript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2880360"/>
            <a:ext cx="2194560" cy="877824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86199" y="3008376"/>
            <a:ext cx="1920240" cy="53035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320" b="1">
                <a:solidFill>
                  <a:srgbClr val="17202A"/>
                </a:solidFill>
                <a:latin typeface="Aptos"/>
              </a:rPr>
              <a:t>Nginx
reverse proxy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2880360"/>
            <a:ext cx="2194560" cy="877824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3008376"/>
            <a:ext cx="1920240" cy="53035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320" b="1">
                <a:solidFill>
                  <a:srgbClr val="17202A"/>
                </a:solidFill>
                <a:latin typeface="Aptos"/>
              </a:rPr>
              <a:t>Backend REST + IA
FastAPI / Python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1080" y="2880360"/>
            <a:ext cx="2194560" cy="877824"/>
          </a:xfrm>
          <a:prstGeom prst="roundRect">
            <a:avLst/>
          </a:prstGeom>
          <a:solidFill>
            <a:srgbClr val="EAF7EA"/>
          </a:solidFill>
          <a:ln w="20320">
            <a:solidFill>
              <a:srgbClr val="188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3008376"/>
            <a:ext cx="1920240" cy="53035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320" b="1">
                <a:solidFill>
                  <a:srgbClr val="17202A"/>
                </a:solidFill>
                <a:latin typeface="Aptos"/>
              </a:rPr>
              <a:t>PostgreSQL 15
fuente de verdad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926080" y="2404872"/>
            <a:ext cx="822959" cy="658368"/>
          </a:xfrm>
          <a:prstGeom prst="line">
            <a:avLst/>
          </a:prstGeom>
          <a:ln w="2540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926080" y="3520440"/>
            <a:ext cx="822959" cy="713232"/>
          </a:xfrm>
          <a:prstGeom prst="line">
            <a:avLst/>
          </a:prstGeom>
          <a:ln w="2540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897880" y="3319272"/>
            <a:ext cx="45720" cy="0"/>
          </a:xfrm>
          <a:prstGeom prst="line">
            <a:avLst/>
          </a:prstGeom>
          <a:ln w="2540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092440" y="3319272"/>
            <a:ext cx="548640" cy="0"/>
          </a:xfrm>
          <a:prstGeom prst="line">
            <a:avLst/>
          </a:prstGeom>
          <a:ln w="2540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77240" y="5285232"/>
            <a:ext cx="102412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5285232"/>
            <a:ext cx="73152" cy="65836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" y="5413248"/>
            <a:ext cx="99212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50" b="1">
                <a:solidFill>
                  <a:srgbClr val="17202A"/>
                </a:solidFill>
                <a:latin typeface="Aptos"/>
              </a:rPr>
              <a:t>Decisiones clave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" y="5760720"/>
            <a:ext cx="9921240" cy="914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D6B7A"/>
                </a:solidFill>
                <a:latin typeface="Aptos"/>
              </a:rPr>
              <a:t>Sin sqflite/drift · Sin sincronización diferida · Operación REST en línea · Cálculo pesado en backend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7955279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7202A"/>
                </a:solidFill>
                <a:latin typeface="Aptos Display"/>
              </a:rPr>
              <a:t>Alcance y Scrum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740664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D6B7A"/>
                </a:solidFill>
                <a:latin typeface="Aptos"/>
              </a:rPr>
              <a:t>Desarrollo incremental con trazabilidad entre RP, HU y sprints.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96012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6692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5D6B7A"/>
                </a:solidFill>
                <a:latin typeface="Aptos"/>
              </a:rPr>
              <a:t>Wireless HeatMapper · Grupo 24 · FICCT-UAGRM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6858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5D6B7A"/>
                </a:solidFill>
                <a:latin typeface="Aptos"/>
              </a:rPr>
              <a:t>05/12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28800"/>
            <a:ext cx="1143000" cy="384048"/>
          </a:xfrm>
          <a:prstGeom prst="round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S0-S1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395728"/>
            <a:ext cx="1828800" cy="1124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2633472"/>
            <a:ext cx="1572768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20" b="1">
                <a:solidFill>
                  <a:srgbClr val="17202A"/>
                </a:solidFill>
                <a:latin typeface="Aptos"/>
              </a:rPr>
              <a:t>Base técnica, admin,
auth y proyectos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9463" y="2962656"/>
            <a:ext cx="292609" cy="0"/>
          </a:xfrm>
          <a:prstGeom prst="line">
            <a:avLst/>
          </a:prstGeom>
          <a:ln w="2540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53512" y="1828800"/>
            <a:ext cx="1143000" cy="384048"/>
          </a:xfrm>
          <a:prstGeom prst="roundRect">
            <a:avLst/>
          </a:prstGeom>
          <a:solidFill>
            <a:srgbClr val="188F67"/>
          </a:solidFill>
          <a:ln>
            <a:solidFill>
              <a:srgbClr val="188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S2-S3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53512" y="2395728"/>
            <a:ext cx="1828800" cy="1124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72384" y="2633472"/>
            <a:ext cx="1572768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20" b="1">
                <a:solidFill>
                  <a:srgbClr val="17202A"/>
                </a:solidFill>
                <a:latin typeface="Aptos"/>
              </a:rPr>
              <a:t>Planos, calibración,
captura y puntos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09743" y="2962656"/>
            <a:ext cx="292609" cy="0"/>
          </a:xfrm>
          <a:prstGeom prst="line">
            <a:avLst/>
          </a:prstGeom>
          <a:ln w="2540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93792" y="1828800"/>
            <a:ext cx="1143000" cy="384048"/>
          </a:xfrm>
          <a:prstGeom prst="roundRect">
            <a:avLst/>
          </a:prstGeom>
          <a:solidFill>
            <a:srgbClr val="B7791F"/>
          </a:solidFill>
          <a:ln>
            <a:solidFill>
              <a:srgbClr val="B77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93792" y="2395728"/>
            <a:ext cx="1828800" cy="1124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12664" y="2633472"/>
            <a:ext cx="1572768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20" b="1">
                <a:solidFill>
                  <a:srgbClr val="17202A"/>
                </a:solidFill>
                <a:latin typeface="Aptos"/>
              </a:rPr>
              <a:t>Conjuntos AP y
heatmaps backend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50023" y="2962656"/>
            <a:ext cx="292609" cy="0"/>
          </a:xfrm>
          <a:prstGeom prst="line">
            <a:avLst/>
          </a:prstGeom>
          <a:ln w="2540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34072" y="1828800"/>
            <a:ext cx="1143000" cy="384048"/>
          </a:xfrm>
          <a:prstGeom prst="roundRect">
            <a:avLst/>
          </a:prstGeom>
          <a:solidFill>
            <a:srgbClr val="C2413B"/>
          </a:solidFill>
          <a:ln>
            <a:solidFill>
              <a:srgbClr val="C24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34072" y="2395728"/>
            <a:ext cx="1828800" cy="1124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633472"/>
            <a:ext cx="1572768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20" b="1">
                <a:solidFill>
                  <a:srgbClr val="17202A"/>
                </a:solidFill>
                <a:latin typeface="Aptos"/>
              </a:rPr>
              <a:t>IA RF y comparación
de propuestas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90303" y="2962656"/>
            <a:ext cx="292609" cy="0"/>
          </a:xfrm>
          <a:prstGeom prst="line">
            <a:avLst/>
          </a:prstGeom>
          <a:ln w="2540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674352" y="1828800"/>
            <a:ext cx="1143000" cy="384048"/>
          </a:xfrm>
          <a:prstGeom prst="roundRect">
            <a:avLst/>
          </a:prstGeom>
          <a:solidFill>
            <a:srgbClr val="1B2A3A"/>
          </a:solidFill>
          <a:ln>
            <a:solidFill>
              <a:srgbClr val="1B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74352" y="2395728"/>
            <a:ext cx="1828800" cy="1124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93224" y="2633472"/>
            <a:ext cx="1572768" cy="59436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20" b="1">
                <a:solidFill>
                  <a:srgbClr val="17202A"/>
                </a:solidFill>
                <a:latin typeface="Aptos"/>
              </a:rPr>
              <a:t>Portal cliente y
enlaces únicos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" y="4572000"/>
            <a:ext cx="102412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0120" y="4572000"/>
            <a:ext cx="73152" cy="8686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61288" y="4700016"/>
            <a:ext cx="99212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17202A"/>
                </a:solidFill>
                <a:latin typeface="Aptos"/>
              </a:rPr>
              <a:t>Dato clave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1288" y="5047488"/>
            <a:ext cx="9921240" cy="30175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5D6B7A"/>
                </a:solidFill>
                <a:latin typeface="Aptos"/>
              </a:rPr>
              <a:t>17 historias de usuario vigentes · 142 puntos de historia · PB-14 eliminada por modalidad online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7955279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7202A"/>
                </a:solidFill>
                <a:latin typeface="Aptos Display"/>
              </a:rPr>
              <a:t>Flujo de uso completo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740664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D6B7A"/>
                </a:solidFill>
                <a:latin typeface="Aptos"/>
              </a:rPr>
              <a:t>Del trabajo de campo a la entrega controlada al cliente.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96012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6692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5D6B7A"/>
                </a:solidFill>
                <a:latin typeface="Aptos"/>
              </a:rPr>
              <a:t>Wireless HeatMapper · Grupo 24 · FICCT-UAGRM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6858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5D6B7A"/>
                </a:solidFill>
                <a:latin typeface="Aptos"/>
              </a:rPr>
              <a:t>06/12</a:t>
            </a:r>
          </a:p>
        </p:txBody>
      </p:sp>
      <p:pic>
        <p:nvPicPr>
          <p:cNvPr id="7" name="Picture 6" descr="app-mov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599124"/>
            <a:ext cx="5074919" cy="352259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3232" y="1325880"/>
            <a:ext cx="310896" cy="310896"/>
          </a:xfrm>
          <a:prstGeom prst="round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1353312"/>
            <a:ext cx="47548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17202A"/>
                </a:solidFill>
                <a:latin typeface="Aptos"/>
              </a:rPr>
              <a:t>Admin registra técnicos y clientes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64792"/>
            <a:ext cx="310896" cy="310896"/>
          </a:xfrm>
          <a:prstGeom prst="round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792224"/>
            <a:ext cx="47548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17202A"/>
                </a:solidFill>
                <a:latin typeface="Aptos"/>
              </a:rPr>
              <a:t>Técnico crea proyecto y sube plano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203704"/>
            <a:ext cx="310896" cy="310896"/>
          </a:xfrm>
          <a:prstGeom prst="round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231136"/>
            <a:ext cx="47548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17202A"/>
                </a:solidFill>
                <a:latin typeface="Aptos"/>
              </a:rPr>
              <a:t>Calibra escala y marca puntos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2642615"/>
            <a:ext cx="310896" cy="310896"/>
          </a:xfrm>
          <a:prstGeom prst="round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2670047"/>
            <a:ext cx="47548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17202A"/>
                </a:solidFill>
                <a:latin typeface="Aptos"/>
              </a:rPr>
              <a:t>App envía mediciones RSSI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081528"/>
            <a:ext cx="310896" cy="310896"/>
          </a:xfrm>
          <a:prstGeom prst="round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0432" y="3108960"/>
            <a:ext cx="47548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17202A"/>
                </a:solidFill>
                <a:latin typeface="Aptos"/>
              </a:rPr>
              <a:t>Backend genera heatmap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520439"/>
            <a:ext cx="310896" cy="310896"/>
          </a:xfrm>
          <a:prstGeom prst="roundRect">
            <a:avLst/>
          </a:prstGeom>
          <a:solidFill>
            <a:srgbClr val="188F67"/>
          </a:solidFill>
          <a:ln>
            <a:solidFill>
              <a:srgbClr val="188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3547871"/>
            <a:ext cx="47548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17202A"/>
                </a:solidFill>
                <a:latin typeface="Aptos"/>
              </a:rPr>
              <a:t>Web genera propuesta 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959352"/>
            <a:ext cx="310896" cy="310896"/>
          </a:xfrm>
          <a:prstGeom prst="roundRect">
            <a:avLst/>
          </a:prstGeom>
          <a:solidFill>
            <a:srgbClr val="188F67"/>
          </a:solidFill>
          <a:ln>
            <a:solidFill>
              <a:srgbClr val="188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0432" y="3986784"/>
            <a:ext cx="47548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17202A"/>
                </a:solidFill>
                <a:latin typeface="Aptos"/>
              </a:rPr>
              <a:t>Admin publica contenido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398264"/>
            <a:ext cx="310896" cy="310896"/>
          </a:xfrm>
          <a:prstGeom prst="roundRect">
            <a:avLst/>
          </a:prstGeom>
          <a:solidFill>
            <a:srgbClr val="188F67"/>
          </a:solidFill>
          <a:ln>
            <a:solidFill>
              <a:srgbClr val="188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4425696"/>
            <a:ext cx="47548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20" b="0">
                <a:solidFill>
                  <a:srgbClr val="17202A"/>
                </a:solidFill>
                <a:latin typeface="Aptos"/>
              </a:rPr>
              <a:t>Cliente accede por enlace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7955279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7202A"/>
                </a:solidFill>
                <a:latin typeface="Aptos Display"/>
              </a:rPr>
              <a:t>Núcleo del modelo de datos RF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740664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D6B7A"/>
                </a:solidFill>
                <a:latin typeface="Aptos"/>
              </a:rPr>
              <a:t>Mostrar solo la parte relacional que sostiene medición, conjuntos AP y heatmaps.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96012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6692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5D6B7A"/>
                </a:solidFill>
                <a:latin typeface="Aptos"/>
              </a:rPr>
              <a:t>Wireless HeatMapper · Grupo 24 · FICCT-UAGRM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6858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5D6B7A"/>
                </a:solidFill>
                <a:latin typeface="Aptos"/>
              </a:rPr>
              <a:t>07/12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27632"/>
            <a:ext cx="1645920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4630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50" b="1">
                <a:solidFill>
                  <a:srgbClr val="17202A"/>
                </a:solidFill>
                <a:latin typeface="Aptos"/>
              </a:rPr>
              <a:t>proyecto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75104"/>
            <a:ext cx="1426464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60" b="0">
                <a:solidFill>
                  <a:srgbClr val="5D6B7A"/>
                </a:solidFill>
                <a:latin typeface="Aptos"/>
              </a:rPr>
              <a:t>cliente · estado
tecnico_id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627632"/>
            <a:ext cx="1645920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719072"/>
            <a:ext cx="14630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50" b="1">
                <a:solidFill>
                  <a:srgbClr val="17202A"/>
                </a:solidFill>
                <a:latin typeface="Aptos"/>
              </a:rPr>
              <a:t>plano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4368" y="1975104"/>
            <a:ext cx="1426464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60" b="0">
                <a:solidFill>
                  <a:srgbClr val="5D6B7A"/>
                </a:solidFill>
                <a:latin typeface="Aptos"/>
              </a:rPr>
              <a:t>escala · poligono
ancho/alto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1627632"/>
            <a:ext cx="1645920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88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1719072"/>
            <a:ext cx="14630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50" b="1">
                <a:solidFill>
                  <a:srgbClr val="17202A"/>
                </a:solidFill>
                <a:latin typeface="Aptos"/>
              </a:rPr>
              <a:t>punto_medicion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93208" y="1975104"/>
            <a:ext cx="1426464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60" b="0">
                <a:solidFill>
                  <a:srgbClr val="5D6B7A"/>
                </a:solidFill>
                <a:latin typeface="Aptos"/>
              </a:rPr>
              <a:t>pos_x · pos_y
nivel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78040" y="1627632"/>
            <a:ext cx="1645920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88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80" y="1719072"/>
            <a:ext cx="146304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50" b="1">
                <a:solidFill>
                  <a:srgbClr val="17202A"/>
                </a:solidFill>
                <a:latin typeface="Aptos"/>
              </a:rPr>
              <a:t>lectura_rssi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7768" y="1975104"/>
            <a:ext cx="1426464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60" b="0">
                <a:solidFill>
                  <a:srgbClr val="5D6B7A"/>
                </a:solidFill>
                <a:latin typeface="Aptos"/>
              </a:rPr>
              <a:t>SSID · BSSID
canal · RSSI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3657600"/>
            <a:ext cx="1737360" cy="8046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77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26080" y="3749040"/>
            <a:ext cx="15544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50" b="1">
                <a:solidFill>
                  <a:srgbClr val="17202A"/>
                </a:solidFill>
                <a:latin typeface="Aptos"/>
              </a:rPr>
              <a:t>conjunto_ap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44368" y="4005072"/>
            <a:ext cx="1517904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60" b="0">
                <a:solidFill>
                  <a:srgbClr val="5D6B7A"/>
                </a:solidFill>
                <a:latin typeface="Aptos"/>
              </a:rPr>
              <a:t>origen · proposito
conjunto_origen_id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02352" y="3657600"/>
            <a:ext cx="1783080" cy="8046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77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93792" y="3749040"/>
            <a:ext cx="16002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50" b="1">
                <a:solidFill>
                  <a:srgbClr val="17202A"/>
                </a:solidFill>
                <a:latin typeface="Aptos"/>
              </a:rPr>
              <a:t>conjunto_ap_item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4005072"/>
            <a:ext cx="1563624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60" b="0">
                <a:solidFill>
                  <a:srgbClr val="5D6B7A"/>
                </a:solidFill>
                <a:latin typeface="Aptos"/>
              </a:rPr>
              <a:t>BSSID · posicion
accion IA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52360" y="3657600"/>
            <a:ext cx="1783080" cy="80467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24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43800" y="3749040"/>
            <a:ext cx="16002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50" b="1">
                <a:solidFill>
                  <a:srgbClr val="17202A"/>
                </a:solidFill>
                <a:latin typeface="Aptos"/>
              </a:rPr>
              <a:t>mapa_calor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2088" y="4005072"/>
            <a:ext cx="1563624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860" b="0">
                <a:solidFill>
                  <a:srgbClr val="5D6B7A"/>
                </a:solidFill>
                <a:latin typeface="Aptos"/>
              </a:rPr>
              <a:t>matriz · escala
firma_mediciones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331720" y="2011680"/>
            <a:ext cx="502920" cy="0"/>
          </a:xfrm>
          <a:prstGeom prst="line">
            <a:avLst/>
          </a:prstGeom>
          <a:ln w="2540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4480560" y="2011680"/>
            <a:ext cx="502920" cy="0"/>
          </a:xfrm>
          <a:prstGeom prst="line">
            <a:avLst/>
          </a:prstGeom>
          <a:ln w="2540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629400" y="2011680"/>
            <a:ext cx="548640" cy="0"/>
          </a:xfrm>
          <a:prstGeom prst="line">
            <a:avLst/>
          </a:prstGeom>
          <a:ln w="2540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657600" y="2395728"/>
            <a:ext cx="0" cy="1261872"/>
          </a:xfrm>
          <a:prstGeom prst="line">
            <a:avLst/>
          </a:prstGeom>
          <a:ln w="25400">
            <a:solidFill>
              <a:srgbClr val="B779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572000" y="4059936"/>
            <a:ext cx="530352" cy="0"/>
          </a:xfrm>
          <a:prstGeom prst="line">
            <a:avLst/>
          </a:prstGeom>
          <a:ln w="25400">
            <a:solidFill>
              <a:srgbClr val="B779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885432" y="4059936"/>
            <a:ext cx="566928" cy="0"/>
          </a:xfrm>
          <a:prstGeom prst="line">
            <a:avLst/>
          </a:prstGeom>
          <a:ln w="25400">
            <a:solidFill>
              <a:srgbClr val="C24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462272" y="2011680"/>
            <a:ext cx="2990088" cy="1691640"/>
          </a:xfrm>
          <a:prstGeom prst="line">
            <a:avLst/>
          </a:prstGeom>
          <a:ln w="25400">
            <a:solidFill>
              <a:srgbClr val="C241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68680" y="5138928"/>
            <a:ext cx="99669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8680" y="5138928"/>
            <a:ext cx="73152" cy="80467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9848" y="5266944"/>
            <a:ext cx="964692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80" b="1">
                <a:solidFill>
                  <a:srgbClr val="17202A"/>
                </a:solidFill>
                <a:latin typeface="Aptos"/>
              </a:rPr>
              <a:t>Lectura técnica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9848" y="5614416"/>
            <a:ext cx="964692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40" b="0">
                <a:solidFill>
                  <a:srgbClr val="5D6B7A"/>
                </a:solidFill>
                <a:latin typeface="Aptos"/>
              </a:rPr>
              <a:t>La IA se persiste como conjunto_ap de origen 'ia'. Se omiten login, tokens y entidades administrativas porque no pertenecen al núcleo RF.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7955279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7202A"/>
                </a:solidFill>
                <a:latin typeface="Aptos Display"/>
              </a:rPr>
              <a:t>Heatmaps y criterios RF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740664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D6B7A"/>
                </a:solidFill>
                <a:latin typeface="Aptos"/>
              </a:rPr>
              <a:t>Mapas generados desde evidencia RSSI real y criterios técnicos explícitos.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96012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6692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5D6B7A"/>
                </a:solidFill>
                <a:latin typeface="Aptos"/>
              </a:rPr>
              <a:t>Wireless HeatMapper · Grupo 24 · FICCT-UAGRM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6858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5D6B7A"/>
                </a:solidFill>
                <a:latin typeface="Aptos"/>
              </a:rPr>
              <a:t>08/12</a:t>
            </a:r>
          </a:p>
        </p:txBody>
      </p:sp>
      <p:pic>
        <p:nvPicPr>
          <p:cNvPr id="7" name="Picture 6" descr="heatmap-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82584"/>
            <a:ext cx="4983480" cy="325391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3232" y="1234440"/>
            <a:ext cx="489204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234440"/>
            <a:ext cx="73152" cy="6400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344168"/>
            <a:ext cx="21031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60" b="1">
                <a:solidFill>
                  <a:srgbClr val="17202A"/>
                </a:solidFill>
                <a:latin typeface="Aptos"/>
              </a:rPr>
              <a:t>Fuente observada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1353312"/>
            <a:ext cx="22402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30" b="0">
                <a:solidFill>
                  <a:srgbClr val="5D6B7A"/>
                </a:solidFill>
                <a:latin typeface="Aptos"/>
              </a:rPr>
              <a:t>lectura_rssi.origen = CAMPO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057400"/>
            <a:ext cx="489204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2057400"/>
            <a:ext cx="73152" cy="640080"/>
          </a:xfrm>
          <a:prstGeom prst="rect">
            <a:avLst/>
          </a:prstGeom>
          <a:solidFill>
            <a:srgbClr val="188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167128"/>
            <a:ext cx="21031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60" b="1">
                <a:solidFill>
                  <a:srgbClr val="17202A"/>
                </a:solidFill>
                <a:latin typeface="Aptos"/>
              </a:rPr>
              <a:t>Algoritmo persistido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2176272"/>
            <a:ext cx="22402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30" b="0">
                <a:solidFill>
                  <a:srgbClr val="5D6B7A"/>
                </a:solidFill>
                <a:latin typeface="Aptos"/>
              </a:rPr>
              <a:t>IDW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2880360"/>
            <a:ext cx="489204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" y="2880360"/>
            <a:ext cx="73152" cy="64008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2990088"/>
            <a:ext cx="21031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60" b="1">
                <a:solidFill>
                  <a:srgbClr val="17202A"/>
                </a:solidFill>
                <a:latin typeface="Aptos"/>
              </a:rPr>
              <a:t>Objetivo de diseño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2999232"/>
            <a:ext cx="22402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30" b="0">
                <a:solidFill>
                  <a:srgbClr val="5D6B7A"/>
                </a:solidFill>
                <a:latin typeface="Aptos"/>
              </a:rPr>
              <a:t>RSSI &gt;= -70 dBm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703320"/>
            <a:ext cx="489204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3703320"/>
            <a:ext cx="73152" cy="640080"/>
          </a:xfrm>
          <a:prstGeom prst="rect">
            <a:avLst/>
          </a:prstGeom>
          <a:solidFill>
            <a:srgbClr val="C241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813048"/>
            <a:ext cx="21031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60" b="1">
                <a:solidFill>
                  <a:srgbClr val="17202A"/>
                </a:solidFill>
                <a:latin typeface="Aptos"/>
              </a:rPr>
              <a:t>Zona muerta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40" y="3822192"/>
            <a:ext cx="22402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30" b="0">
                <a:solidFill>
                  <a:srgbClr val="5D6B7A"/>
                </a:solidFill>
                <a:latin typeface="Aptos"/>
              </a:rPr>
              <a:t>RSSI &lt; -90 dBm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526280"/>
            <a:ext cx="489204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" y="4526280"/>
            <a:ext cx="73152" cy="640080"/>
          </a:xfrm>
          <a:prstGeom prst="rect">
            <a:avLst/>
          </a:prstGeom>
          <a:solidFill>
            <a:srgbClr val="1B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636008"/>
            <a:ext cx="21031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60" b="1">
                <a:solidFill>
                  <a:srgbClr val="17202A"/>
                </a:solidFill>
                <a:latin typeface="Aptos"/>
              </a:rPr>
              <a:t>Android &gt;= 8.0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63240" y="4645152"/>
            <a:ext cx="22402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30" b="0">
                <a:solidFill>
                  <a:srgbClr val="5D6B7A"/>
                </a:solidFill>
                <a:latin typeface="Aptos"/>
              </a:rPr>
              <a:t>4 scans / 2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" y="5596128"/>
            <a:ext cx="52120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F618D"/>
                </a:solidFill>
                <a:latin typeface="Aptos"/>
              </a:rPr>
              <a:t>IDW interpola mediciones reales; no simula una red inexistente.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7955279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7202A"/>
                </a:solidFill>
                <a:latin typeface="Aptos Display"/>
              </a:rPr>
              <a:t>IA RF y optimización 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740664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D6B7A"/>
                </a:solidFill>
                <a:latin typeface="Aptos"/>
              </a:rPr>
              <a:t>La IA propone escenarios futuros sin alterar la evidencia real capturada.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96012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6692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5D6B7A"/>
                </a:solidFill>
                <a:latin typeface="Aptos"/>
              </a:rPr>
              <a:t>Wireless HeatMapper · Grupo 24 · FICCT-UAGRM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6858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5D6B7A"/>
                </a:solidFill>
                <a:latin typeface="Aptos"/>
              </a:rPr>
              <a:t>09/12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205740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212848"/>
            <a:ext cx="1755648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20" b="1">
                <a:solidFill>
                  <a:srgbClr val="17202A"/>
                </a:solidFill>
                <a:latin typeface="Aptos"/>
              </a:rPr>
              <a:t>Conjunto técnico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578608"/>
            <a:ext cx="1755648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80" b="0">
                <a:solidFill>
                  <a:srgbClr val="5D6B7A"/>
                </a:solidFill>
                <a:latin typeface="Aptos"/>
              </a:rPr>
              <a:t>APs relevantes
medidos en campo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88920" y="2633472"/>
            <a:ext cx="548640" cy="0"/>
          </a:xfrm>
          <a:prstGeom prst="line">
            <a:avLst/>
          </a:prstGeom>
          <a:ln w="2540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502152" y="2011680"/>
            <a:ext cx="205740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77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8456" y="2212848"/>
            <a:ext cx="1755648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20" b="1">
                <a:solidFill>
                  <a:srgbClr val="17202A"/>
                </a:solidFill>
                <a:latin typeface="Aptos"/>
              </a:rPr>
              <a:t>Predictor RF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8456" y="2578608"/>
            <a:ext cx="1755648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80" b="0">
                <a:solidFill>
                  <a:srgbClr val="5D6B7A"/>
                </a:solidFill>
                <a:latin typeface="Aptos"/>
              </a:rPr>
              <a:t>FSPL/log-distance
calibración local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559552" y="2633472"/>
            <a:ext cx="548640" cy="0"/>
          </a:xfrm>
          <a:prstGeom prst="line">
            <a:avLst/>
          </a:prstGeom>
          <a:ln w="2540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72784" y="2011680"/>
            <a:ext cx="205740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88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2212848"/>
            <a:ext cx="1755648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20" b="1">
                <a:solidFill>
                  <a:srgbClr val="17202A"/>
                </a:solidFill>
                <a:latin typeface="Aptos"/>
              </a:rPr>
              <a:t>Conjunto 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578608"/>
            <a:ext cx="1755648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80" b="0">
                <a:solidFill>
                  <a:srgbClr val="5D6B7A"/>
                </a:solidFill>
                <a:latin typeface="Aptos"/>
              </a:rPr>
              <a:t>APs propuestos
origen = ia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330184" y="2633472"/>
            <a:ext cx="548640" cy="0"/>
          </a:xfrm>
          <a:prstGeom prst="line">
            <a:avLst/>
          </a:prstGeom>
          <a:ln w="25400">
            <a:solidFill>
              <a:srgbClr val="2980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043416" y="2011680"/>
            <a:ext cx="205740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20" y="2212848"/>
            <a:ext cx="1755648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20" b="1">
                <a:solidFill>
                  <a:srgbClr val="17202A"/>
                </a:solidFill>
                <a:latin typeface="Aptos"/>
              </a:rPr>
              <a:t>Heatmap proyectado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2578608"/>
            <a:ext cx="1755648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80" b="0">
                <a:solidFill>
                  <a:srgbClr val="5D6B7A"/>
                </a:solidFill>
                <a:latin typeface="Aptos"/>
              </a:rPr>
              <a:t>IDW sobre lecturas
IA_ESTIMADA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4315968"/>
            <a:ext cx="987552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51560" y="4315968"/>
            <a:ext cx="73152" cy="7772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52728" y="4443984"/>
            <a:ext cx="95554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50" b="1">
                <a:solidFill>
                  <a:srgbClr val="17202A"/>
                </a:solidFill>
                <a:latin typeface="Aptos"/>
              </a:rPr>
              <a:t>Regla de defensa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2728" y="4791456"/>
            <a:ext cx="9555480" cy="2103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50" b="0">
                <a:solidFill>
                  <a:srgbClr val="5D6B7A"/>
                </a:solidFill>
                <a:latin typeface="Aptos"/>
              </a:rPr>
              <a:t>IDW y FSPL no compiten: IDW persiste mapas; FSPL estima escenarios futuros para alimentar la 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7955279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7202A"/>
                </a:solidFill>
                <a:latin typeface="Aptos Display"/>
              </a:rPr>
              <a:t>Seguridad y portal cliente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740664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D6B7A"/>
                </a:solidFill>
                <a:latin typeface="Aptos"/>
              </a:rPr>
              <a:t>El cliente ve resultados interactivos sin acceso interno al sistema.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96012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6692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5D6B7A"/>
                </a:solidFill>
                <a:latin typeface="Aptos"/>
              </a:rPr>
              <a:t>Wireless HeatMapper · Grupo 24 · FICCT-UAGRM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6858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5D6B7A"/>
                </a:solidFill>
                <a:latin typeface="Aptos"/>
              </a:rPr>
              <a:t>10/12</a:t>
            </a:r>
          </a:p>
        </p:txBody>
      </p:sp>
      <p:pic>
        <p:nvPicPr>
          <p:cNvPr id="7" name="Picture 6" descr="portal-cli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21224"/>
            <a:ext cx="4754880" cy="310465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417320"/>
            <a:ext cx="48920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73152" cy="9601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545336"/>
            <a:ext cx="4572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202A"/>
                </a:solidFill>
                <a:latin typeface="Aptos"/>
              </a:rPr>
              <a:t>Usuarios internos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892808"/>
            <a:ext cx="4572000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D6B7A"/>
                </a:solidFill>
                <a:latin typeface="Aptos"/>
              </a:rPr>
              <a:t>JWT + refresh token + bcrypt
Roles para administración y operación técnica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51760"/>
            <a:ext cx="48920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651760"/>
            <a:ext cx="73152" cy="960120"/>
          </a:xfrm>
          <a:prstGeom prst="rect">
            <a:avLst/>
          </a:prstGeom>
          <a:solidFill>
            <a:srgbClr val="188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779776"/>
            <a:ext cx="4572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202A"/>
                </a:solidFill>
                <a:latin typeface="Aptos"/>
              </a:rPr>
              <a:t>Portal cliente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127248"/>
            <a:ext cx="4572000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D6B7A"/>
                </a:solidFill>
                <a:latin typeface="Aptos"/>
              </a:rPr>
              <a:t>/portal/:token
Enlace con expiración y revocación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86200"/>
            <a:ext cx="48920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886200"/>
            <a:ext cx="73152" cy="96012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014216"/>
            <a:ext cx="4572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7202A"/>
                </a:solidFill>
                <a:latin typeface="Aptos"/>
              </a:rPr>
              <a:t>Visibilidad restringida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4361688"/>
            <a:ext cx="4572000" cy="3931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D6B7A"/>
                </a:solidFill>
                <a:latin typeface="Aptos"/>
              </a:rPr>
              <a:t>Contenido limitado a conjunto_ids y mapa_ids
Sin exposición de otros proyectos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532120"/>
            <a:ext cx="49377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50" b="1">
                <a:solidFill>
                  <a:srgbClr val="1F618D"/>
                </a:solidFill>
                <a:latin typeface="Aptos"/>
              </a:rPr>
              <a:t>El portal reemplaza el PDF por una entrega visual, interactiva y controlada.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320040"/>
            <a:ext cx="7955279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17202A"/>
                </a:solidFill>
                <a:latin typeface="Aptos Display"/>
              </a:rPr>
              <a:t>Calidad y evidencia de implementación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04672"/>
            <a:ext cx="740664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D6B7A"/>
                </a:solidFill>
                <a:latin typeface="Aptos"/>
              </a:rPr>
              <a:t>Solución implementada por capas y acompañada por pruebas automatizadas.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33856"/>
            <a:ext cx="960120" cy="36576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6692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5D6B7A"/>
                </a:solidFill>
                <a:latin typeface="Aptos"/>
              </a:rPr>
              <a:t>Wireless HeatMapper · Grupo 24 · FICCT-UAGRM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18520" y="6473952"/>
            <a:ext cx="6858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5D6B7A"/>
                </a:solidFill>
                <a:latin typeface="Aptos"/>
              </a:rPr>
              <a:t>11/12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72768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572768"/>
            <a:ext cx="73152" cy="20574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700784"/>
            <a:ext cx="31089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7202A"/>
                </a:solidFill>
                <a:latin typeface="Aptos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48256"/>
            <a:ext cx="3108960" cy="1490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D6B7A"/>
                </a:solidFill>
                <a:latin typeface="Aptos"/>
              </a:rPr>
              <a:t>Routers: auth, usuarios, clientes, proyectos, planos, mediciones, heatmaps, escenarios y share.
Tests pytest para endpoints, heatmaps, IA y portal.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572768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1572768"/>
            <a:ext cx="73152" cy="2057400"/>
          </a:xfrm>
          <a:prstGeom prst="rect">
            <a:avLst/>
          </a:prstGeom>
          <a:solidFill>
            <a:srgbClr val="188F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700784"/>
            <a:ext cx="31089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7202A"/>
                </a:solidFill>
                <a:latin typeface="Aptos"/>
              </a:rPr>
              <a:t>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048256"/>
            <a:ext cx="3108960" cy="1490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D6B7A"/>
                </a:solidFill>
                <a:latin typeface="Aptos"/>
              </a:rPr>
              <a:t>React + TypeScript para admin y portal.
Vitest / React Testing Library en portal y utilidades API.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572768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572768"/>
            <a:ext cx="73152" cy="2057400"/>
          </a:xfrm>
          <a:prstGeom prst="rect">
            <a:avLst/>
          </a:prstGeom>
          <a:solidFill>
            <a:srgbClr val="B77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1700784"/>
            <a:ext cx="31089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7202A"/>
                </a:solidFill>
                <a:latin typeface="Aptos"/>
              </a:rPr>
              <a:t>Móvil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048256"/>
            <a:ext cx="3108960" cy="1490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5D6B7A"/>
                </a:solidFill>
                <a:latin typeface="Aptos"/>
              </a:rPr>
              <a:t>Flutter con datasources remotos.
Tests unit/widget para auth, proyectos, planos, captura y heatmap.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4440" y="4617720"/>
            <a:ext cx="9784080" cy="7498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4828032"/>
            <a:ext cx="93726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7202A"/>
                </a:solidFill>
                <a:latin typeface="Aptos"/>
              </a:rPr>
              <a:t>Infraestructura: migraciones Alembic · Docker Compose · Nginx · PostgreSQL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566928"/>
            <a:ext cx="4754880" cy="5486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Valor entregado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234440"/>
            <a:ext cx="8138160" cy="4754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0">
                <a:solidFill>
                  <a:srgbClr val="D8E8F3"/>
                </a:solidFill>
                <a:latin typeface="Aptos"/>
              </a:rPr>
              <a:t>Wireless HeatMapper convierte el relevamiento WiFi en un proceso medible, trazable y compartible.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34640"/>
            <a:ext cx="2331720" cy="1225296"/>
          </a:xfrm>
          <a:prstGeom prst="roundRect">
            <a:avLst/>
          </a:prstGeom>
          <a:solidFill>
            <a:srgbClr val="1F3041"/>
          </a:solidFill>
          <a:ln w="13970">
            <a:solidFill>
              <a:srgbClr val="485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3063240"/>
            <a:ext cx="420624" cy="109728"/>
          </a:xfrm>
          <a:prstGeom prst="round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1">
                <a:solidFill>
                  <a:srgbClr val="2980B9"/>
                </a:solidFill>
                <a:latin typeface="Aptos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310128"/>
            <a:ext cx="19202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Aptos"/>
              </a:rPr>
              <a:t>Evidencia centralizada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03320"/>
            <a:ext cx="1874519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C3D3E0"/>
                </a:solidFill>
                <a:latin typeface="Aptos"/>
              </a:rPr>
              <a:t>PostgreSQL como fuente única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79" y="2834640"/>
            <a:ext cx="2331720" cy="1225296"/>
          </a:xfrm>
          <a:prstGeom prst="roundRect">
            <a:avLst/>
          </a:prstGeom>
          <a:solidFill>
            <a:srgbClr val="1F3041"/>
          </a:solidFill>
          <a:ln w="13970">
            <a:solidFill>
              <a:srgbClr val="485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94759" y="3063240"/>
            <a:ext cx="420624" cy="109728"/>
          </a:xfrm>
          <a:prstGeom prst="roundRect">
            <a:avLst/>
          </a:prstGeom>
          <a:solidFill>
            <a:srgbClr val="188F67"/>
          </a:solidFill>
          <a:ln>
            <a:solidFill>
              <a:srgbClr val="188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1">
                <a:solidFill>
                  <a:srgbClr val="188F67"/>
                </a:solidFill>
                <a:latin typeface="Aptos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59" y="3310128"/>
            <a:ext cx="19202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Aptos"/>
              </a:rPr>
              <a:t>Heatmaps reales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59" y="3703320"/>
            <a:ext cx="1874519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C3D3E0"/>
                </a:solidFill>
                <a:latin typeface="Aptos"/>
              </a:rPr>
              <a:t>RSSI observado + IDW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834640"/>
            <a:ext cx="2331720" cy="1225296"/>
          </a:xfrm>
          <a:prstGeom prst="roundRect">
            <a:avLst/>
          </a:prstGeom>
          <a:solidFill>
            <a:srgbClr val="1F3041"/>
          </a:solidFill>
          <a:ln w="13970">
            <a:solidFill>
              <a:srgbClr val="485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0" y="3063240"/>
            <a:ext cx="420624" cy="109728"/>
          </a:xfrm>
          <a:prstGeom prst="roundRect">
            <a:avLst/>
          </a:prstGeom>
          <a:solidFill>
            <a:srgbClr val="B7791F"/>
          </a:solidFill>
          <a:ln>
            <a:solidFill>
              <a:srgbClr val="B779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1">
                <a:solidFill>
                  <a:srgbClr val="B7791F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310128"/>
            <a:ext cx="19202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Aptos"/>
              </a:rPr>
              <a:t>IA trazable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703320"/>
            <a:ext cx="1874519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C3D3E0"/>
                </a:solidFill>
                <a:latin typeface="Aptos"/>
              </a:rPr>
              <a:t>Conjuntos derivados desde campo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19" y="2834640"/>
            <a:ext cx="2331720" cy="1225296"/>
          </a:xfrm>
          <a:prstGeom prst="roundRect">
            <a:avLst/>
          </a:prstGeom>
          <a:solidFill>
            <a:srgbClr val="1F3041"/>
          </a:solidFill>
          <a:ln w="13970">
            <a:solidFill>
              <a:srgbClr val="485B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72599" y="3063240"/>
            <a:ext cx="420624" cy="109728"/>
          </a:xfrm>
          <a:prstGeom prst="roundRect">
            <a:avLst/>
          </a:prstGeom>
          <a:solidFill>
            <a:srgbClr val="68C4E2"/>
          </a:solidFill>
          <a:ln>
            <a:solidFill>
              <a:srgbClr val="68C4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" b="1">
                <a:solidFill>
                  <a:srgbClr val="68C4E2"/>
                </a:solidFill>
                <a:latin typeface="Apto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599" y="3310128"/>
            <a:ext cx="19202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Aptos"/>
              </a:rPr>
              <a:t>Entrega profesional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599" y="3703320"/>
            <a:ext cx="1874519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50" b="0">
                <a:solidFill>
                  <a:srgbClr val="C3D3E0"/>
                </a:solidFill>
                <a:latin typeface="Aptos"/>
              </a:rPr>
              <a:t>Portal seguro por enlace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715000"/>
            <a:ext cx="1014984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68C4E2"/>
                </a:solidFill>
                <a:latin typeface="Aptos"/>
              </a:rPr>
              <a:t>Cadena completa de evidencia técnica para tomar decisiones WiFi.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20" y="6473952"/>
            <a:ext cx="68580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850" b="0">
                <a:solidFill>
                  <a:srgbClr val="B4C6D4"/>
                </a:solidFill>
                <a:latin typeface="Aptos"/>
              </a:rP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