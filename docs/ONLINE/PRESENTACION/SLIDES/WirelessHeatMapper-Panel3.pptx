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72F09E-6E19-4B20-B7BC-F5B24F4634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ED23C6-BE56-4B1E-BFFA-7AD81EEE5C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ED5716-CC3E-4C73-B530-C145534AED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C13532-4124-4F00-8FD9-C1938DE782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0F5683-03EA-48A7-A560-C4BDEB1579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2ECD67-6B34-477F-8098-28D204045B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B55F90-AC78-4F5F-8196-C764B5D8FC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8E0620-235F-40E5-9354-5917B6078C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60FB70-B5A7-4C2D-847C-040DFA8EAF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54ADCC-6C4F-4530-AA51-0EE6CF4394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SV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195636-45E6-414A-B875-C4DB72F339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SV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4160520" y="0"/>
            <a:ext cx="72720" cy="685764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 descr="logo.png"/>
          <p:cNvPicPr/>
          <p:nvPr/>
        </p:nvPicPr>
        <p:blipFill>
          <a:blip r:embed="rId1"/>
          <a:stretch/>
        </p:blipFill>
        <p:spPr>
          <a:xfrm>
            <a:off x="658440" y="502920"/>
            <a:ext cx="959760" cy="95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658440" y="1737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fontScale="85000" lnSpcReduction="9999"/>
          </a:bodyPr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Wireless</a:t>
            </a:r>
            <a:endParaRPr lang="es-SV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HeatMapper</a:t>
            </a:r>
            <a:endParaRPr lang="es-SV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58440" y="285300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Panel 3 · Junio 2026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58440" y="52578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r>
              <a:rPr lang="en-US" sz="110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UAGRM · FICCT · Taller de Grado I</a:t>
            </a:r>
            <a:endParaRPr lang="es-SV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Grupo 24</a:t>
            </a:r>
            <a:endParaRPr lang="es-SV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709160" y="713160"/>
            <a:ext cx="6537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Heatmaps, análisis, IA y publicación RF</a:t>
            </a:r>
            <a:endParaRPr lang="es-SV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736520" y="1371600"/>
            <a:ext cx="6309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fontScale="85000" lnSpcReduction="19999"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Resumen de lo implementado para convertir mediciones WiFi en una propuesta técnica compartible con el cliente.</a:t>
            </a:r>
            <a:endParaRPr lang="es-SV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0"/>
          <p:cNvSpPr/>
          <p:nvPr/>
        </p:nvSpPr>
        <p:spPr>
          <a:xfrm>
            <a:off x="4736520" y="1993320"/>
            <a:ext cx="1645560" cy="749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846320" y="2084760"/>
            <a:ext cx="14259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92500" lnSpcReduction="9999"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7AE60"/>
                </a:solidFill>
                <a:effectLst/>
                <a:uFillTx/>
                <a:latin typeface="Aptos"/>
              </a:rPr>
              <a:t>S4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846320" y="2450520"/>
            <a:ext cx="14259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Heatmaps + análisis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6546960" y="1993320"/>
            <a:ext cx="1645560" cy="749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6656760" y="2084760"/>
            <a:ext cx="14259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92500" lnSpcReduction="9999"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980B9"/>
                </a:solidFill>
                <a:effectLst/>
                <a:uFillTx/>
                <a:latin typeface="Aptos"/>
              </a:rPr>
              <a:t>S5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6656760" y="2450520"/>
            <a:ext cx="14259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IA + reportes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6"/>
          <p:cNvSpPr/>
          <p:nvPr/>
        </p:nvSpPr>
        <p:spPr>
          <a:xfrm>
            <a:off x="8357760" y="1993320"/>
            <a:ext cx="1645560" cy="749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8467200" y="2084760"/>
            <a:ext cx="14259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92500" lnSpcReduction="9999"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39C12"/>
                </a:solidFill>
                <a:effectLst/>
                <a:uFillTx/>
                <a:latin typeface="Aptos"/>
              </a:rPr>
              <a:t>RF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8467200" y="2450520"/>
            <a:ext cx="14259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Publicación cliente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9"/>
          <p:cNvSpPr/>
          <p:nvPr/>
        </p:nvSpPr>
        <p:spPr>
          <a:xfrm>
            <a:off x="4736520" y="3063240"/>
            <a:ext cx="288000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0"/>
          <p:cNvSpPr/>
          <p:nvPr/>
        </p:nvSpPr>
        <p:spPr>
          <a:xfrm>
            <a:off x="4736520" y="3063240"/>
            <a:ext cx="72720" cy="251424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4965120" y="32277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Núcleo técnico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4965120" y="3675960"/>
            <a:ext cx="24685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Conjuntos de APs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Heatmaps por backend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Análisis automático CWNA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23"/>
          <p:cNvSpPr/>
          <p:nvPr/>
        </p:nvSpPr>
        <p:spPr>
          <a:xfrm>
            <a:off x="7909560" y="3063240"/>
            <a:ext cx="2880000" cy="251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24"/>
          <p:cNvSpPr/>
          <p:nvPr/>
        </p:nvSpPr>
        <p:spPr>
          <a:xfrm>
            <a:off x="7909560" y="3063240"/>
            <a:ext cx="72720" cy="251424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8138160" y="32277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Entrega final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8138160" y="3675960"/>
            <a:ext cx="24685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Escenarios optimizados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Gobernanza de contenido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Enlace seguro al cliente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27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1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Flujo implementado de heatmap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Sprint 4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2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685800" y="960120"/>
            <a:ext cx="5211720" cy="393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9"/>
          <p:cNvSpPr/>
          <p:nvPr/>
        </p:nvSpPr>
        <p:spPr>
          <a:xfrm>
            <a:off x="685800" y="960120"/>
            <a:ext cx="72720" cy="39315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914400" y="1124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Entrada real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914400" y="1572840"/>
            <a:ext cx="4800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Plano calibrado.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Polígono de interés obligatorio.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Puntos de medición persistidos.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APs agrupados por BSSID.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Conjunto de APs seleccionado.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2"/>
          <p:cNvSpPr/>
          <p:nvPr/>
        </p:nvSpPr>
        <p:spPr>
          <a:xfrm>
            <a:off x="6263640" y="960120"/>
            <a:ext cx="5211720" cy="393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3"/>
          <p:cNvSpPr/>
          <p:nvPr/>
        </p:nvSpPr>
        <p:spPr>
          <a:xfrm>
            <a:off x="6263640" y="960120"/>
            <a:ext cx="72720" cy="39315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6492240" y="1124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Salida del backend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5"/>
          <p:cNvSpPr/>
          <p:nvPr/>
        </p:nvSpPr>
        <p:spPr>
          <a:xfrm>
            <a:off x="6492240" y="1572840"/>
            <a:ext cx="4800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Matriz RSSI.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Imagen PNG firmada.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Escala CWNA.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Puntos usados para lectura.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Advertencias por baja densidad de muestras.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6"/>
          <p:cNvSpPr/>
          <p:nvPr/>
        </p:nvSpPr>
        <p:spPr>
          <a:xfrm>
            <a:off x="1965960" y="5285160"/>
            <a:ext cx="214848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7"/>
          <p:cNvSpPr/>
          <p:nvPr/>
        </p:nvSpPr>
        <p:spPr>
          <a:xfrm>
            <a:off x="2075760" y="5376600"/>
            <a:ext cx="19288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85000" lnSpcReduction="19999"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980B9"/>
                </a:solidFill>
                <a:effectLst/>
                <a:uFillTx/>
                <a:latin typeface="Aptos"/>
              </a:rPr>
              <a:t>AP individual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8"/>
          <p:cNvSpPr/>
          <p:nvPr/>
        </p:nvSpPr>
        <p:spPr>
          <a:xfrm>
            <a:off x="2075760" y="5742360"/>
            <a:ext cx="19288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Modo de generación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9"/>
          <p:cNvSpPr/>
          <p:nvPr/>
        </p:nvSpPr>
        <p:spPr>
          <a:xfrm>
            <a:off x="4709160" y="5285160"/>
            <a:ext cx="214848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0"/>
          <p:cNvSpPr/>
          <p:nvPr/>
        </p:nvSpPr>
        <p:spPr>
          <a:xfrm>
            <a:off x="4818960" y="5376600"/>
            <a:ext cx="19288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85000" lnSpcReduction="19999"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39C12"/>
                </a:solidFill>
                <a:effectLst/>
                <a:uFillTx/>
                <a:latin typeface="Aptos"/>
              </a:rPr>
              <a:t>Subconjunto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1"/>
          <p:cNvSpPr/>
          <p:nvPr/>
        </p:nvSpPr>
        <p:spPr>
          <a:xfrm>
            <a:off x="4818960" y="5742360"/>
            <a:ext cx="19288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Modo de generación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22"/>
          <p:cNvSpPr/>
          <p:nvPr/>
        </p:nvSpPr>
        <p:spPr>
          <a:xfrm>
            <a:off x="7452360" y="5285160"/>
            <a:ext cx="214848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7562160" y="5376600"/>
            <a:ext cx="19288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70000" lnSpcReduction="19999"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7AE60"/>
                </a:solidFill>
                <a:effectLst/>
                <a:uFillTx/>
                <a:latin typeface="Aptos"/>
              </a:rPr>
              <a:t>Conjunto completo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4"/>
          <p:cNvSpPr/>
          <p:nvPr/>
        </p:nvSpPr>
        <p:spPr>
          <a:xfrm>
            <a:off x="7562160" y="5742360"/>
            <a:ext cx="19288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Modo de generación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Algoritmos y criterios técnicos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Backend FastAPI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3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Table 8"/>
          <p:cNvGraphicFramePr/>
          <p:nvPr/>
        </p:nvGraphicFramePr>
        <p:xfrm>
          <a:off x="960120" y="1051560"/>
          <a:ext cx="10240920" cy="3611520"/>
        </p:xfrm>
        <a:graphic>
          <a:graphicData uri="http://schemas.openxmlformats.org/drawingml/2006/table">
            <a:tbl>
              <a:tblPr/>
              <a:tblGrid>
                <a:gridCol w="3108960"/>
                <a:gridCol w="7132320"/>
              </a:tblGrid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Elemento</a:t>
                      </a:r>
                      <a:endParaRPr lang="es-SV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618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Implementación</a:t>
                      </a:r>
                      <a:endParaRPr lang="es-SV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618D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Interpolación base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IDW con potencia 2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Alternativa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Kriging ordinario determinístico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Escala visual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Rangos RSSI con paleta CWNA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Objetivo operativo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RSSI &gt;= −70 dBm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Zona muerta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RSSI &lt; −90 dBm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Máscara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B2631"/>
                          </a:solidFill>
                          <a:effectLst/>
                          <a:uFillTx/>
                          <a:latin typeface="Aptos"/>
                        </a:rPr>
                        <a:t>Solo se evalúa el polígono de interés</a:t>
                      </a:r>
                      <a:endParaRPr lang="es-SV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22" name="Rounded Rectangle 9"/>
          <p:cNvSpPr/>
          <p:nvPr/>
        </p:nvSpPr>
        <p:spPr>
          <a:xfrm>
            <a:off x="960120" y="5074920"/>
            <a:ext cx="10240920" cy="566640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 w="15875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1161360" y="5203080"/>
            <a:ext cx="98384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El sistema no dibuja solo una imagen: conserva la matriz RSSI para análisis, comparación e IA.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Análisis automático de cobertura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CWNA-107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4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822960" y="1051560"/>
            <a:ext cx="557748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Porcentaje de cobertura adecuada.</a:t>
            </a:r>
            <a:endParaRPr lang="es-SV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Porcentaje y cantidad de zonas muertas.</a:t>
            </a:r>
            <a:endParaRPr lang="es-SV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Zonas problemáticas bajo −75 dBm.</a:t>
            </a:r>
            <a:endParaRPr lang="es-SV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APs detectados con SSID, BSSID, canal, frecuencia y posición estimada.</a:t>
            </a:r>
            <a:endParaRPr lang="es-SV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Solapamientos de AP con criterio RSSI &gt;= −70 dBm.</a:t>
            </a:r>
            <a:endParaRPr lang="es-SV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Interferencias CCI y ACI cuando corresponde por canal.</a:t>
            </a:r>
            <a:endParaRPr lang="es-SV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9"/>
          <p:cNvSpPr/>
          <p:nvPr/>
        </p:nvSpPr>
        <p:spPr>
          <a:xfrm>
            <a:off x="6903720" y="1143000"/>
            <a:ext cx="1599840" cy="868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7013520" y="1234440"/>
            <a:ext cx="138024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7AE60"/>
                </a:solidFill>
                <a:effectLst/>
                <a:uFillTx/>
                <a:latin typeface="Aptos"/>
              </a:rPr>
              <a:t>−70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7013520" y="1600200"/>
            <a:ext cx="1380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dBm objetivo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2"/>
          <p:cNvSpPr/>
          <p:nvPr/>
        </p:nvSpPr>
        <p:spPr>
          <a:xfrm>
            <a:off x="8732520" y="1143000"/>
            <a:ext cx="1599840" cy="868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8842320" y="1234440"/>
            <a:ext cx="138024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Aptos"/>
              </a:rPr>
              <a:t>−90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8842320" y="1600200"/>
            <a:ext cx="1380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dBm zona muerta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5"/>
          <p:cNvSpPr/>
          <p:nvPr/>
        </p:nvSpPr>
        <p:spPr>
          <a:xfrm>
            <a:off x="7818120" y="2331720"/>
            <a:ext cx="1599840" cy="868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7927920" y="2423160"/>
            <a:ext cx="138024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39C12"/>
                </a:solidFill>
                <a:effectLst/>
                <a:uFillTx/>
                <a:latin typeface="Aptos"/>
              </a:rPr>
              <a:t>CCI/ACI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7927920" y="2788920"/>
            <a:ext cx="1380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Interferencia</a:t>
            </a:r>
            <a:endParaRPr lang="es-SV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8"/>
          <p:cNvSpPr/>
          <p:nvPr/>
        </p:nvSpPr>
        <p:spPr>
          <a:xfrm>
            <a:off x="6720840" y="3977640"/>
            <a:ext cx="4160160" cy="959760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 w="15875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6922080" y="4105800"/>
            <a:ext cx="3757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Esta salida alimenta el panel inferior móvil, la revisión web y los entregables al cliente.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05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App móvil: operación del técnico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Flutter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5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685800" y="960120"/>
            <a:ext cx="5211720" cy="425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9"/>
          <p:cNvSpPr/>
          <p:nvPr/>
        </p:nvSpPr>
        <p:spPr>
          <a:xfrm>
            <a:off x="685800" y="960120"/>
            <a:ext cx="72720" cy="42516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914400" y="1124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Lo implementado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914400" y="1572840"/>
            <a:ext cx="48002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Lista APs disponibles del plano.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Crea y edita conjuntos de APs.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Persiste ubicación de AP dentro del conjunto.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Genera heatmaps desde backend.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Muestra matriz, imagen, leyenda, puntos y análisis.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6263640" y="960120"/>
            <a:ext cx="5211720" cy="425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13"/>
          <p:cNvSpPr/>
          <p:nvPr/>
        </p:nvSpPr>
        <p:spPr>
          <a:xfrm>
            <a:off x="6263640" y="960120"/>
            <a:ext cx="72720" cy="42516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4"/>
          <p:cNvSpPr/>
          <p:nvPr/>
        </p:nvSpPr>
        <p:spPr>
          <a:xfrm>
            <a:off x="6492240" y="1124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Regla de arquitectura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6492240" y="1572840"/>
            <a:ext cx="48002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Cliente móvil delgado.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Sin BD local de dominio.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Operación REST en línea.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Estado técnico persistido en PostgreSQL.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Cálculo pesado en FastAPI.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6"/>
          <p:cNvSpPr/>
          <p:nvPr/>
        </p:nvSpPr>
        <p:spPr>
          <a:xfrm>
            <a:off x="1005840" y="5486400"/>
            <a:ext cx="10058040" cy="502560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 w="15875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7"/>
          <p:cNvSpPr/>
          <p:nvPr/>
        </p:nvSpPr>
        <p:spPr>
          <a:xfrm>
            <a:off x="1207080" y="5614560"/>
            <a:ext cx="965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La app móvil se usa para trabajo de campo y validación visual, no para ejecutar IA.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06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IA y escenarios optimizados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Sprint 5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822960" y="1005840"/>
            <a:ext cx="580608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Usa mediciones reales y mapa actual como línea base.</a:t>
            </a:r>
            <a:endParaRPr lang="es-SV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Calibra un modelo de propagación por banda cuando hay muestras suficientes.</a:t>
            </a:r>
            <a:endParaRPr lang="es-SV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Si no hay calibración local, usa baseline físico tipo FSPL/log-distance.</a:t>
            </a:r>
            <a:endParaRPr lang="es-SV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Evalúa candidatos sobre grilla, zonas críticas y centro del plano.</a:t>
            </a:r>
            <a:endParaRPr lang="es-SV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Aplica búsqueda greedy y ajuste local.</a:t>
            </a:r>
            <a:endParaRPr lang="es-SV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Genera alternativas con cobertura proyectada, mejora, APs sugeridos y confianza.</a:t>
            </a:r>
            <a:endParaRPr lang="es-SV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9"/>
          <p:cNvSpPr/>
          <p:nvPr/>
        </p:nvSpPr>
        <p:spPr>
          <a:xfrm>
            <a:off x="6995160" y="1143000"/>
            <a:ext cx="393156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0"/>
          <p:cNvSpPr/>
          <p:nvPr/>
        </p:nvSpPr>
        <p:spPr>
          <a:xfrm>
            <a:off x="6995160" y="1143000"/>
            <a:ext cx="72720" cy="292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1"/>
          <p:cNvSpPr/>
          <p:nvPr/>
        </p:nvSpPr>
        <p:spPr>
          <a:xfrm>
            <a:off x="7223760" y="13075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Salida IA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7223760" y="1755720"/>
            <a:ext cx="3520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Cobertura actual vs proyectada.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Cantidad de APs recomendados.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Ubicación sugerida por AP.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Confianza de la alternativa.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3"/>
          <p:cNvSpPr/>
          <p:nvPr/>
        </p:nvSpPr>
        <p:spPr>
          <a:xfrm>
            <a:off x="6995160" y="4434840"/>
            <a:ext cx="3931560" cy="840960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 w="15875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7196400" y="4563000"/>
            <a:ext cx="352908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La generación IA está restringida al panel web admin.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07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Espacio RF del proyecto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Objetivo final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7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685800" y="960120"/>
            <a:ext cx="521172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9"/>
          <p:cNvSpPr/>
          <p:nvPr/>
        </p:nvSpPr>
        <p:spPr>
          <a:xfrm>
            <a:off x="685800" y="960120"/>
            <a:ext cx="72720" cy="42973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914400" y="1124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Conjuntos AP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914400" y="1572840"/>
            <a:ext cx="48002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Revisión de conjuntos creados desde móvil, web o IA.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Estados de gobernanza: borrador, revisión, aprobado, publicado o descartado.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Selección de qué conjunto podrá ver el cliente.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Base para generar heatmaps por AP individual, subconjunto o conjunto completo.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2"/>
          <p:cNvSpPr/>
          <p:nvPr/>
        </p:nvSpPr>
        <p:spPr>
          <a:xfrm>
            <a:off x="6263640" y="960120"/>
            <a:ext cx="521172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13"/>
          <p:cNvSpPr/>
          <p:nvPr/>
        </p:nvSpPr>
        <p:spPr>
          <a:xfrm>
            <a:off x="6263640" y="960120"/>
            <a:ext cx="72720" cy="42973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6492240" y="11246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Escenarios IA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6492240" y="1572840"/>
            <a:ext cx="48002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Generación de alternativas optimizadas desde un conjunto AP.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Comparación entre cobertura actual y cobertura proyectada.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Aprobación interna antes de compartir.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Publicación de la propuesta final al cliente.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6"/>
          <p:cNvSpPr/>
          <p:nvPr/>
        </p:nvSpPr>
        <p:spPr>
          <a:xfrm>
            <a:off x="960120" y="5541120"/>
            <a:ext cx="10195200" cy="566640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 w="15875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1161360" y="5669280"/>
            <a:ext cx="9792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El Espacio RF concentra el paso clave: del relevamiento técnico a una propuesta compartible y verificable.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1F618D"/>
          </a:solidFill>
          <a:ln>
            <a:solidFill>
              <a:srgbClr val="1F61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02920" y="1188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08</a:t>
            </a:r>
            <a:endParaRPr lang="es-SV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1051560" y="73080"/>
            <a:ext cx="8960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Publicación por enlace al cliente</a:t>
            </a:r>
            <a:endParaRPr lang="es-SV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9692640" y="137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E1EEF8"/>
                </a:solidFill>
                <a:effectLst/>
                <a:uFillTx/>
                <a:latin typeface="Aptos"/>
              </a:rPr>
              <a:t>Portal /portal/:token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5"/>
          <p:cNvSpPr/>
          <p:nvPr/>
        </p:nvSpPr>
        <p:spPr>
          <a:xfrm>
            <a:off x="0" y="6519600"/>
            <a:ext cx="12191400" cy="8640"/>
          </a:xfrm>
          <a:prstGeom prst="rect">
            <a:avLst/>
          </a:prstGeom>
          <a:solidFill>
            <a:srgbClr val="D5DBDB"/>
          </a:solidFill>
          <a:ln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502920" y="655632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Wireless HeatMapper · Panel 3 · UAGRM-FICCT 2026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11064240" y="655632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 lnSpcReduction="9999"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5D6D7E"/>
                </a:solidFill>
                <a:effectLst/>
                <a:uFillTx/>
                <a:latin typeface="Aptos"/>
              </a:rPr>
              <a:t>8</a:t>
            </a:r>
            <a:endParaRPr lang="es-SV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822960" y="1005840"/>
            <a:ext cx="603468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4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El admin selecciona explícitamente conjuntos AP publicados y escenarios IA publicados.</a:t>
            </a:r>
            <a:endParaRPr lang="es-SV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4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Define vigencia del enlace: 1, 7, 30 o 90 días.</a:t>
            </a:r>
            <a:endParaRPr lang="es-SV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4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Puede generar solo el enlace o enviarlo al correo de referencia del cliente.</a:t>
            </a:r>
            <a:endParaRPr lang="es-SV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4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El sistema mantiene enlaces activos/revocados, fecha de expiración y contador de accesos.</a:t>
            </a:r>
            <a:endParaRPr lang="es-SV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64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El portal /portal/:token muestra únicamente el contenido autorizado del proyecto.</a:t>
            </a:r>
            <a:endParaRPr lang="es-SV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9"/>
          <p:cNvSpPr/>
          <p:nvPr/>
        </p:nvSpPr>
        <p:spPr>
          <a:xfrm>
            <a:off x="7315200" y="1188720"/>
            <a:ext cx="342864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10"/>
          <p:cNvSpPr/>
          <p:nvPr/>
        </p:nvSpPr>
        <p:spPr>
          <a:xfrm>
            <a:off x="7315200" y="1188720"/>
            <a:ext cx="72720" cy="205704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7543800" y="13532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Control de acceso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7543800" y="1801440"/>
            <a:ext cx="30171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Token firmado.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Expiración configurable.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Revocación desde admin.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Contador de accesos.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3"/>
          <p:cNvSpPr/>
          <p:nvPr/>
        </p:nvSpPr>
        <p:spPr>
          <a:xfrm>
            <a:off x="7315200" y="3520440"/>
            <a:ext cx="34286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B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14"/>
          <p:cNvSpPr/>
          <p:nvPr/>
        </p:nvSpPr>
        <p:spPr>
          <a:xfrm>
            <a:off x="7315200" y="3520440"/>
            <a:ext cx="72720" cy="15084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5"/>
          <p:cNvSpPr/>
          <p:nvPr/>
        </p:nvSpPr>
        <p:spPr>
          <a:xfrm>
            <a:off x="7543800" y="36849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618D"/>
                </a:solidFill>
                <a:effectLst/>
                <a:uFillTx/>
                <a:latin typeface="Aptos"/>
              </a:rPr>
              <a:t>Contenido visible</a:t>
            </a:r>
            <a:endParaRPr lang="es-SV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6"/>
          <p:cNvSpPr/>
          <p:nvPr/>
        </p:nvSpPr>
        <p:spPr>
          <a:xfrm>
            <a:off x="7543800" y="413316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normAutofit fontScale="85000" lnSpcReduction="9999"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Heatmaps.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Análisis de cobertura.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52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Propuesta RF aprobada.</a:t>
            </a:r>
            <a:endParaRPr lang="es-SV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17"/>
          <p:cNvSpPr/>
          <p:nvPr/>
        </p:nvSpPr>
        <p:spPr>
          <a:xfrm>
            <a:off x="868680" y="5559480"/>
            <a:ext cx="10560960" cy="566640"/>
          </a:xfrm>
          <a:prstGeom prst="roundRect">
            <a:avLst>
              <a:gd name="adj" fmla="val 16667"/>
            </a:avLst>
          </a:prstGeom>
          <a:solidFill>
            <a:srgbClr val="FFFDE7"/>
          </a:solidFill>
          <a:ln w="15875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8"/>
          <p:cNvSpPr/>
          <p:nvPr/>
        </p:nvSpPr>
        <p:spPr>
          <a:xfrm>
            <a:off x="1069920" y="5687640"/>
            <a:ext cx="10158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18360" rIns="45720" bIns="18360" anchor="ctr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B2631"/>
                </a:solidFill>
                <a:effectLst/>
                <a:uFillTx/>
                <a:latin typeface="Aptos"/>
              </a:rPr>
              <a:t>Resultado final: Bulldog Tech. entrega al cliente un enlace controlado sin exponer información interna ni contenido no aprobado.</a:t>
            </a:r>
            <a:endParaRPr lang="es-SV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es-SV</dc:language>
  <cp:lastModifiedBy/>
  <dcterms:modified xsi:type="dcterms:W3CDTF">2026-06-23T19:31:12Z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